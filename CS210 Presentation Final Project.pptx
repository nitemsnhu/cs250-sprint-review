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11" Type="http://schemas.openxmlformats.org/officeDocument/2006/relationships/slide" Target="slides/slide6.xml"/><Relationship Id="rId22" Type="http://schemas.openxmlformats.org/officeDocument/2006/relationships/font" Target="fonts/Montserrat-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770d81217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770d81217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770d81217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770d81217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770d81217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770d8121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770d81217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770d81217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770d81217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770d81217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770d81217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770d81217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770d81217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770d81217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770d81217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770d81217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770d8121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770d8121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770d81217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770d81217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770d81217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770d81217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770d81217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770d81217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770d81217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770d81217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atlassian.com/agile/software-development/sdlc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175525" y="817050"/>
            <a:ext cx="39036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</a:t>
            </a:r>
            <a:endParaRPr b="1" sz="7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AGILE</a:t>
            </a:r>
            <a:endParaRPr b="1" sz="7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Method</a:t>
            </a:r>
            <a:endParaRPr b="1" sz="7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225" y="1680225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4319550" y="1925250"/>
            <a:ext cx="3751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ROLES</a:t>
            </a:r>
            <a:endParaRPr b="1" sz="7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PRODUCT OWNER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-GB" sz="2000">
                <a:solidFill>
                  <a:schemeClr val="accent2"/>
                </a:solidFill>
              </a:rPr>
              <a:t>Creates and updates a vision of the product based on feedback from </a:t>
            </a:r>
            <a:r>
              <a:rPr lang="en-GB" sz="2000">
                <a:solidFill>
                  <a:schemeClr val="accent2"/>
                </a:solidFill>
              </a:rPr>
              <a:t>clients</a:t>
            </a:r>
            <a:r>
              <a:rPr lang="en-GB" sz="2000">
                <a:solidFill>
                  <a:schemeClr val="accent2"/>
                </a:solidFill>
              </a:rPr>
              <a:t>, stakeholders, and the internal development team.</a:t>
            </a:r>
            <a:endParaRPr sz="2000">
              <a:solidFill>
                <a:schemeClr val="accent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-GB" sz="2000">
                <a:solidFill>
                  <a:schemeClr val="accent2"/>
                </a:solidFill>
              </a:rPr>
              <a:t>Maintains and develops the backlog and ensures that it follows the goals of the business. (Marti D. &amp; Agnes Y., 2025)</a:t>
            </a:r>
            <a:endParaRPr sz="2000">
              <a:solidFill>
                <a:schemeClr val="accent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-GB" sz="2000">
                <a:solidFill>
                  <a:schemeClr val="accent2"/>
                </a:solidFill>
              </a:rPr>
              <a:t>Makes decisions based on consensus of the developers, stakeholders, and </a:t>
            </a:r>
            <a:r>
              <a:rPr lang="en-GB" sz="2000">
                <a:solidFill>
                  <a:schemeClr val="accent2"/>
                </a:solidFill>
              </a:rPr>
              <a:t>clients</a:t>
            </a:r>
            <a:r>
              <a:rPr lang="en-GB" sz="2000">
                <a:solidFill>
                  <a:schemeClr val="accent2"/>
                </a:solidFill>
              </a:rPr>
              <a:t> on what features need to be implemented and when. (Mountain Goat Software, 2024)</a:t>
            </a:r>
            <a:endParaRPr sz="2000">
              <a:solidFill>
                <a:schemeClr val="accent2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5450" y="215600"/>
            <a:ext cx="802125" cy="80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SCRUM MASTER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-GB" sz="2000">
                <a:solidFill>
                  <a:schemeClr val="accent2"/>
                </a:solidFill>
              </a:rPr>
              <a:t>A servant-leader ensuring that the Agile and Scrum methodology is properly used by the team.</a:t>
            </a:r>
            <a:endParaRPr sz="2000">
              <a:solidFill>
                <a:schemeClr val="accent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-GB" sz="2000">
                <a:solidFill>
                  <a:schemeClr val="accent2"/>
                </a:solidFill>
              </a:rPr>
              <a:t>Must understand the intricacies of the Scrum methodology and apply it for the team. (Marti D. &amp; Agnes Y., 2025)</a:t>
            </a:r>
            <a:endParaRPr sz="2000">
              <a:solidFill>
                <a:schemeClr val="accent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-GB" sz="2000">
                <a:solidFill>
                  <a:schemeClr val="accent2"/>
                </a:solidFill>
              </a:rPr>
              <a:t>Facilitates meetings, removes </a:t>
            </a:r>
            <a:r>
              <a:rPr lang="en-GB" sz="2000">
                <a:solidFill>
                  <a:schemeClr val="accent2"/>
                </a:solidFill>
              </a:rPr>
              <a:t>impediments</a:t>
            </a:r>
            <a:r>
              <a:rPr lang="en-GB" sz="2000">
                <a:solidFill>
                  <a:schemeClr val="accent2"/>
                </a:solidFill>
              </a:rPr>
              <a:t> to progress, and ensures that Sprints are getting done on time. (Mountain Goat Software, 2024)</a:t>
            </a:r>
            <a:endParaRPr sz="2000">
              <a:solidFill>
                <a:schemeClr val="accent2"/>
              </a:solidFill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7475" y="109350"/>
            <a:ext cx="954550" cy="95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DEVELOPER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-GB" sz="2000">
                <a:solidFill>
                  <a:schemeClr val="accent2"/>
                </a:solidFill>
              </a:rPr>
              <a:t>Collaboratively works and implements the vision of the Product Owner through user stories.</a:t>
            </a:r>
            <a:endParaRPr sz="2000">
              <a:solidFill>
                <a:schemeClr val="accent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-GB" sz="2000">
                <a:solidFill>
                  <a:schemeClr val="accent2"/>
                </a:solidFill>
              </a:rPr>
              <a:t>Communicates to ensure that development follows of the goal of the business, and tightens the specifications of user stories. (Marti D. &amp; Agnes Y., 2025)</a:t>
            </a:r>
            <a:endParaRPr sz="2000">
              <a:solidFill>
                <a:schemeClr val="accent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-GB" sz="2000">
                <a:solidFill>
                  <a:schemeClr val="accent2"/>
                </a:solidFill>
              </a:rPr>
              <a:t>Focuses both on individual responsibilities and the needs of the group when necessary.</a:t>
            </a:r>
            <a:endParaRPr sz="2000">
              <a:solidFill>
                <a:schemeClr val="accent2"/>
              </a:solidFill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3550" y="133363"/>
            <a:ext cx="1019124" cy="101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/>
        </p:nvSpPr>
        <p:spPr>
          <a:xfrm>
            <a:off x="4375550" y="1925250"/>
            <a:ext cx="4527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PHASES</a:t>
            </a:r>
            <a:endParaRPr b="1" sz="7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800" y="520350"/>
            <a:ext cx="4014749" cy="4014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PLANNING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2509257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DESIGN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231975" y="4599550"/>
            <a:ext cx="460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Citation: (Radigan, 2023)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480450" y="1087923"/>
            <a:ext cx="8183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GB" sz="2400">
                <a:solidFill>
                  <a:schemeClr val="dk2"/>
                </a:solidFill>
              </a:rPr>
              <a:t>Set the goals and requirements of the project</a:t>
            </a:r>
            <a:endParaRPr sz="2400">
              <a:solidFill>
                <a:schemeClr val="dk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GB" sz="2400">
                <a:solidFill>
                  <a:schemeClr val="dk2"/>
                </a:solidFill>
              </a:rPr>
              <a:t>Analyze if the project is feasible to do in the first</a:t>
            </a:r>
            <a:br>
              <a:rPr lang="en-GB" sz="2400">
                <a:solidFill>
                  <a:schemeClr val="dk2"/>
                </a:solidFill>
              </a:rPr>
            </a:br>
            <a:r>
              <a:rPr lang="en-GB" sz="2400">
                <a:solidFill>
                  <a:schemeClr val="dk2"/>
                </a:solidFill>
              </a:rPr>
              <a:t>place given physical, practical, or financial constraints.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455950" y="3081948"/>
            <a:ext cx="8183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GB" sz="2400">
                <a:solidFill>
                  <a:schemeClr val="dk2"/>
                </a:solidFill>
              </a:rPr>
              <a:t>Create the blueprints of the software</a:t>
            </a:r>
            <a:endParaRPr sz="2400">
              <a:solidFill>
                <a:schemeClr val="dk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GB" sz="2400">
                <a:solidFill>
                  <a:schemeClr val="dk2"/>
                </a:solidFill>
              </a:rPr>
              <a:t>Consider user interface</a:t>
            </a:r>
            <a:endParaRPr sz="2400">
              <a:solidFill>
                <a:schemeClr val="dk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GB" sz="2400">
                <a:solidFill>
                  <a:schemeClr val="dk2"/>
                </a:solidFill>
              </a:rPr>
              <a:t>Decide which operating systems the software will work on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3575" y="241850"/>
            <a:ext cx="995050" cy="99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8050" y="2350750"/>
            <a:ext cx="889700" cy="88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DEVELOPMENT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2509257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TESTING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231975" y="4599550"/>
            <a:ext cx="460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Citation: (Radigan, 2023)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480450" y="1087923"/>
            <a:ext cx="8183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GB" sz="2400">
                <a:solidFill>
                  <a:schemeClr val="dk2"/>
                </a:solidFill>
              </a:rPr>
              <a:t>Write code to create the software</a:t>
            </a:r>
            <a:endParaRPr sz="2400">
              <a:solidFill>
                <a:schemeClr val="dk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GB" sz="2400">
                <a:solidFill>
                  <a:schemeClr val="dk2"/>
                </a:solidFill>
              </a:rPr>
              <a:t>Ensure the code follows industry-standard best practices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455950" y="3081948"/>
            <a:ext cx="8183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GB" sz="2400">
                <a:solidFill>
                  <a:schemeClr val="dk2"/>
                </a:solidFill>
              </a:rPr>
              <a:t>Ensure that the software works in as many reasonable circumstances as possible</a:t>
            </a:r>
            <a:endParaRPr sz="2400">
              <a:solidFill>
                <a:schemeClr val="dk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GB" sz="2400">
                <a:solidFill>
                  <a:schemeClr val="dk2"/>
                </a:solidFill>
              </a:rPr>
              <a:t>Consider continuous testing integration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4174" y="337574"/>
            <a:ext cx="803600" cy="8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8025" y="2275150"/>
            <a:ext cx="852125" cy="85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DEPLOYMENT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2509257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REVIEW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231975" y="4599550"/>
            <a:ext cx="460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Citation: (Radigan, 2023)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480450" y="1087923"/>
            <a:ext cx="8183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GB" sz="2400">
                <a:solidFill>
                  <a:schemeClr val="dk2"/>
                </a:solidFill>
              </a:rPr>
              <a:t>Release the product to users</a:t>
            </a:r>
            <a:endParaRPr sz="2400">
              <a:solidFill>
                <a:schemeClr val="dk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GB" sz="2400">
                <a:solidFill>
                  <a:schemeClr val="dk2"/>
                </a:solidFill>
              </a:rPr>
              <a:t>Can be beta-tested or launched to certain users first for feedback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455950" y="3081948"/>
            <a:ext cx="8183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GB" sz="2400">
                <a:solidFill>
                  <a:schemeClr val="dk2"/>
                </a:solidFill>
              </a:rPr>
              <a:t>Get reviews from users</a:t>
            </a:r>
            <a:endParaRPr sz="2400">
              <a:solidFill>
                <a:schemeClr val="dk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GB" sz="2400">
                <a:solidFill>
                  <a:schemeClr val="dk2"/>
                </a:solidFill>
              </a:rPr>
              <a:t>Create user stories that follow feedback that users provide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7550" y="354100"/>
            <a:ext cx="770550" cy="77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0050" y="2378125"/>
            <a:ext cx="869025" cy="86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CONTINUOUS IMPROVEMENT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231975" y="4599550"/>
            <a:ext cx="460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Citation: (Radigan, 2023)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480450" y="1087923"/>
            <a:ext cx="8183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GB" sz="2400">
                <a:solidFill>
                  <a:schemeClr val="dk2"/>
                </a:solidFill>
              </a:rPr>
              <a:t>Create improvements based on user feedback</a:t>
            </a:r>
            <a:endParaRPr sz="2400">
              <a:solidFill>
                <a:schemeClr val="dk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GB" sz="2400">
                <a:solidFill>
                  <a:schemeClr val="dk2"/>
                </a:solidFill>
              </a:rPr>
              <a:t>Feed in review information into new planning and sprints.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6025" y="258212"/>
            <a:ext cx="962324" cy="96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/>
        </p:nvSpPr>
        <p:spPr>
          <a:xfrm>
            <a:off x="4375550" y="1925250"/>
            <a:ext cx="4527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WHY NOT</a:t>
            </a:r>
            <a:br>
              <a:rPr b="1" lang="en-GB" sz="3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3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WATERFALL?</a:t>
            </a:r>
            <a:endParaRPr b="1" sz="3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5" name="Google Shape;1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425" y="536375"/>
            <a:ext cx="4070749" cy="407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WHAT IS WATERFALL?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-GB" sz="2000">
                <a:solidFill>
                  <a:schemeClr val="accent2"/>
                </a:solidFill>
              </a:rPr>
              <a:t>Extensive design requirements that </a:t>
            </a:r>
            <a:r>
              <a:rPr lang="en-GB" sz="2000">
                <a:solidFill>
                  <a:schemeClr val="accent2"/>
                </a:solidFill>
              </a:rPr>
              <a:t>specify</a:t>
            </a:r>
            <a:r>
              <a:rPr lang="en-GB" sz="2000">
                <a:solidFill>
                  <a:schemeClr val="accent2"/>
                </a:solidFill>
              </a:rPr>
              <a:t> a step-by-step method for completion, hence a “waterfall of information”</a:t>
            </a:r>
            <a:endParaRPr sz="2000">
              <a:solidFill>
                <a:schemeClr val="accent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-GB" sz="2000">
                <a:solidFill>
                  <a:schemeClr val="accent2"/>
                </a:solidFill>
              </a:rPr>
              <a:t>Top-down design, specifies everything in advance. </a:t>
            </a:r>
            <a:r>
              <a:rPr lang="en-GB"/>
              <a:t>(Adobe for Business, 2025)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In the SNHU Travel project, we would need to start over and do a complete redesign when needing to add a mobile program and pivot to wellness-oriented vacation packages.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6050" y="183975"/>
            <a:ext cx="1017725" cy="101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PROS AND CONS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2000">
                <a:solidFill>
                  <a:schemeClr val="accent2"/>
                </a:solidFill>
              </a:rPr>
              <a:t>Waterfall is good for </a:t>
            </a:r>
            <a:r>
              <a:rPr lang="en-GB" sz="2000">
                <a:solidFill>
                  <a:schemeClr val="accent2"/>
                </a:solidFill>
              </a:rPr>
              <a:t>unchanging products that you can’t go back on (such as construction)</a:t>
            </a:r>
            <a:endParaRPr sz="2000">
              <a:solidFill>
                <a:schemeClr val="accent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-GB" sz="2000">
                <a:solidFill>
                  <a:schemeClr val="accent2"/>
                </a:solidFill>
              </a:rPr>
              <a:t>Also good for small, simple items that need strict design requirements like manufactured goods. (Adobe for Business, 2025)</a:t>
            </a:r>
            <a:endParaRPr sz="2000">
              <a:solidFill>
                <a:schemeClr val="accent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-GB" sz="2000">
                <a:solidFill>
                  <a:schemeClr val="accent2"/>
                </a:solidFill>
              </a:rPr>
              <a:t>However, when there is room for flexibility and innovation, Agile allows developers to more easily change things, such as in software development.</a:t>
            </a:r>
            <a:endParaRPr sz="2000">
              <a:solidFill>
                <a:schemeClr val="accent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-GB" sz="2000">
                <a:solidFill>
                  <a:schemeClr val="accent2"/>
                </a:solidFill>
              </a:rPr>
              <a:t>Example: SNHU Travel was flexibly able to adapt to wellness packages due to using Agile over the waterfall method.</a:t>
            </a:r>
            <a:endParaRPr sz="2000">
              <a:solidFill>
                <a:schemeClr val="accent2"/>
              </a:solidFill>
            </a:endParaRPr>
          </a:p>
        </p:txBody>
      </p:sp>
      <p:pic>
        <p:nvPicPr>
          <p:cNvPr id="149" name="Google Shape;149;p25"/>
          <p:cNvPicPr preferRelativeResize="0"/>
          <p:nvPr/>
        </p:nvPicPr>
        <p:blipFill rotWithShape="1">
          <a:blip r:embed="rId3">
            <a:alphaModFix/>
          </a:blip>
          <a:srcRect b="14362" l="0" r="0" t="0"/>
          <a:stretch/>
        </p:blipFill>
        <p:spPr>
          <a:xfrm>
            <a:off x="3413475" y="79174"/>
            <a:ext cx="1346051" cy="11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1770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REFERENCES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177000" y="1078650"/>
            <a:ext cx="89670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Adobe Business. (2025). Waterfall methodology: What it is and how it works. https://business.adobe.com/blog/basics/waterfall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Radigan, D. (2023). Atlassian. Software development life cycle (SDLC).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https://www.atlassian.com/agile/software-development/sdlc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Marti, D., &amp; Agnes, Y. (2025). Scrum developer guide (Version 1.0). European Scrum. https://www.europeanscrum.org/uploads/2/4/5/1/24513648/scrum_developer_guide_-_2025_-_v.1.0_-_europeanscrum.org.pdf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Mountain Goat Software. (2024). Scrum Master. https://www.mountaingoatsoftware.com/agile/scrum/roles/scrummaster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Mountain Goat Software. (2024). Product owner. https://www.mountaingoatsoftware.com/agile/scrum/roles/product-owner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Mountain Goat Software. (2024). Team. https://www.mountaingoatsoftware.com/agile/scrum/roles/team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